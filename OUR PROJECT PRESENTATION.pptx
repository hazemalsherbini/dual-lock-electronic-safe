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Arial Black" panose="020B0A04020102020204" pitchFamily="34" charset="0"/>
      <p:bold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</p:embeddedFont>
    <p:embeddedFont>
      <p:font typeface="Roboto" pitchFamily="2" charset="0"/>
      <p:regular r:id="rId20"/>
      <p:bold r:id="rId21"/>
      <p:italic r:id="rId22"/>
      <p:boldItalic r:id="rId23"/>
    </p:embeddedFont>
    <p:embeddedFont>
      <p:font typeface="Roboto Bold" pitchFamily="2" charset="0"/>
      <p:regular r:id="rId24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7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312" y="506958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94148"/>
            <a:ext cx="6296860" cy="146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Dual-Verification Security Lock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 + Analog Dial Verification using AVR Microcontroller Layered Embedded Architecture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182569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C3939"/>
                </a:solidFill>
                <a:latin typeface="Arial Black" panose="020B0A04020102020204" pitchFamily="34" charset="0"/>
                <a:ea typeface="Raleway" pitchFamily="34" charset="-122"/>
                <a:cs typeface="Raleway" pitchFamily="34" charset="-120"/>
              </a:rPr>
              <a:t>Two-Factor Physical Auth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28717" y="2886526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digital keypad entry with analog dial verification for robust access control.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76244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182568"/>
            <a:ext cx="2663262" cy="70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Arial Black" panose="020B0A04020102020204" pitchFamily="34" charset="0"/>
                <a:ea typeface="Raleway" pitchFamily="34" charset="-122"/>
                <a:cs typeface="Raleway" pitchFamily="34" charset="-120"/>
              </a:rPr>
              <a:t>Dual Condition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Arial Black" panose="020B0A04020102020204" pitchFamily="34" charset="0"/>
                <a:ea typeface="Raleway" pitchFamily="34" charset="-122"/>
                <a:cs typeface="Raleway" pitchFamily="34" charset="-120"/>
              </a:rPr>
              <a:t>Required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71601" y="285003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the correct 4-digit password AND the matching potentiometer position must be verified.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233360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3C3939"/>
                </a:solidFill>
                <a:latin typeface="Arial Black" panose="020B0A04020102020204" pitchFamily="34" charset="0"/>
              </a:rPr>
              <a:t>Simultaneous Verification</a:t>
            </a:r>
          </a:p>
        </p:txBody>
      </p:sp>
      <p:sp>
        <p:nvSpPr>
          <p:cNvPr id="13" name="Text 10"/>
          <p:cNvSpPr/>
          <p:nvPr/>
        </p:nvSpPr>
        <p:spPr>
          <a:xfrm>
            <a:off x="5428717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Access is granted only when both conditions pass at the same moment — neither alone is sufficient.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1174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Architecture: Layered Design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02670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01851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Layer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21058" y="3251003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 verification, dial check, and change password logic — the top-level application logic.</a:t>
            </a:r>
            <a:endParaRPr lang="en-US" sz="1050" b="1" dirty="0"/>
          </a:p>
        </p:txBody>
      </p:sp>
      <p:sp>
        <p:nvSpPr>
          <p:cNvPr id="6" name="Text 3"/>
          <p:cNvSpPr/>
          <p:nvPr/>
        </p:nvSpPr>
        <p:spPr>
          <a:xfrm>
            <a:off x="6221058" y="346240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HAL Layer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21058" y="3802933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LCD and keypad driver abstractions decoupling hardware from application code.</a:t>
            </a:r>
            <a:endParaRPr lang="en-US" sz="1050" b="1" dirty="0"/>
          </a:p>
        </p:txBody>
      </p:sp>
      <p:sp>
        <p:nvSpPr>
          <p:cNvPr id="8" name="Text 5"/>
          <p:cNvSpPr/>
          <p:nvPr/>
        </p:nvSpPr>
        <p:spPr>
          <a:xfrm>
            <a:off x="6221058" y="4031590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MCAL Layer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21058" y="4354859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DIO and ADC microcontroller peripheral drivers operating at register level.</a:t>
            </a:r>
            <a:endParaRPr lang="en-US" sz="1050" b="1" dirty="0"/>
          </a:p>
        </p:txBody>
      </p:sp>
      <p:sp>
        <p:nvSpPr>
          <p:cNvPr id="10" name="Text 7"/>
          <p:cNvSpPr/>
          <p:nvPr/>
        </p:nvSpPr>
        <p:spPr>
          <a:xfrm>
            <a:off x="6221058" y="4540390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LIB Layer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21058" y="4906793"/>
            <a:ext cx="5925096" cy="12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utilities: </a:t>
            </a:r>
            <a:r>
              <a:rPr lang="en-US" sz="1050" b="1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STD_TYPES</a:t>
            </a: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050" b="1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BIT_MATH</a:t>
            </a: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macros shared across all layers.</a:t>
            </a:r>
            <a:endParaRPr lang="en-US" sz="10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4×4 Keypad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password entry interface using matrix scanning.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16×2 LCD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user feedback and system status messages.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002036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Potentiometer + ADC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 dial verification — converts rotation to a 0–99 value.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81101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LED Indicator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521970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access status — blue for approved, red for denied.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81101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AVR Microcontroller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521970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system controller orchestrating all peripheral interactions.</a:t>
            </a:r>
            <a:endParaRPr lang="en-US" sz="1450" dirty="0"/>
          </a:p>
        </p:txBody>
      </p:sp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89702414-E92F-FD95-13BF-871573B86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6276" y="4079296"/>
            <a:ext cx="495482" cy="495482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DC0924D9-C5C6-7457-B42B-84DD049277BA}"/>
              </a:ext>
            </a:extLst>
          </p:cNvPr>
          <p:cNvSpPr/>
          <p:nvPr/>
        </p:nvSpPr>
        <p:spPr>
          <a:xfrm>
            <a:off x="8061918" y="47868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- Buzzer</a:t>
            </a:r>
            <a:endParaRPr lang="en-US" sz="18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54243EF-44F4-826A-314F-3C9B43DE519E}"/>
              </a:ext>
            </a:extLst>
          </p:cNvPr>
          <p:cNvSpPr/>
          <p:nvPr/>
        </p:nvSpPr>
        <p:spPr>
          <a:xfrm>
            <a:off x="8061918" y="519552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af-ZA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Safety alert when a wrong password is entered 3 time.</a:t>
            </a:r>
            <a:endParaRPr lang="en-US" sz="1450" dirty="0">
              <a:solidFill>
                <a:srgbClr val="3C3939"/>
              </a:solidFill>
              <a:latin typeface="Roboto" pitchFamily="34" charset="0"/>
              <a:ea typeface="Roboto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832074"/>
            <a:ext cx="1118763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888728"/>
            <a:ext cx="15015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MCAL LAYER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194818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DIO Driver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86107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I/O Module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34535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DIO driver provides register-level control of all microcontroller GPIO pins, enabling flexible and portable hardware interaction.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120257"/>
            <a:ext cx="6903269" cy="10521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Configurable pin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direction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(input/output)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control per pin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register access: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DDR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registers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all 4 ports —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with independent configuration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23838"/>
            <a:ext cx="1118763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80492"/>
            <a:ext cx="15015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MCAL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865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ADC Driver: Analog-to-Digital Conversion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5515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10-bit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321508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62376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values spanning 0 to 1023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13915" y="235515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0–99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6213915" y="321508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Dial Range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13915" y="362376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Mapped output for potentiometer position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20965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Configuration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4788396"/>
            <a:ext cx="10868745" cy="104576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Selectable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voltage reference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AVcc, internal, or external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Configurable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prescaler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optimal conversion speed vs. accuracy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Potentiometer reading scaled from raw 10-bit value into a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Dial Value (0–99)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62" y="1899741"/>
            <a:ext cx="5152896" cy="30583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3149" y="4248666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Decode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3508883" y="4248666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 Read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868297" y="4248666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Row Drive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032251" y="1617861"/>
            <a:ext cx="997620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145656" y="1674515"/>
            <a:ext cx="138039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 LAYER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32251" y="1980605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Keypad Driver</a:t>
            </a:r>
            <a:endParaRPr lang="en-US" sz="3700" dirty="0"/>
          </a:p>
        </p:txBody>
      </p:sp>
      <p:sp>
        <p:nvSpPr>
          <p:cNvPr id="9" name="Text 6"/>
          <p:cNvSpPr/>
          <p:nvPr/>
        </p:nvSpPr>
        <p:spPr>
          <a:xfrm>
            <a:off x="8032251" y="264685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Matrix Scanning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32251" y="3131145"/>
            <a:ext cx="3504219" cy="225544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Row/column scanning technique for full 4×3 matrix coverage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debounce: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 ms delay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eliminates contact noise and false triggers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a pressed key identifier or a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"not pressed"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status flag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Logic Flow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295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210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 Decision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8610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Dial Verify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2096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Password Verify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4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Welcome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949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enforces strict sequential verification — password first, then dial position — before granting any access.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110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Change Password Feature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85205"/>
            <a:ext cx="3053877" cy="25887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46845" y="1626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447767" y="2241153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Verify Identity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447767" y="2649835"/>
            <a:ext cx="26250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must enter 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old password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confirm 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dial position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any change is permitted.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6244" y="1485205"/>
            <a:ext cx="3053976" cy="25887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89729" y="1626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690651" y="2241153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Dual Confirmation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690651" y="2649835"/>
            <a:ext cx="2625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credentials must pass verification — either failure blocks the change request entirely.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262934"/>
            <a:ext cx="6296860" cy="19838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68337" y="440471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5447767" y="501888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Store New Password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5447767" y="5427563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Once verified, the system accepts and stores the new password, completing the update securely.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1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Design Principles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1655862"/>
            <a:ext cx="3357082" cy="21156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1870273"/>
            <a:ext cx="28266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Modular Layered Architecture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649835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separation of concerns across all 4 layers — APP, HAL, MCAL, LIB.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9290" y="1655862"/>
            <a:ext cx="3357181" cy="21156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5294" y="1870273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Reusable Portable Drivers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95294" y="2354560"/>
            <a:ext cx="28267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DIO, ADC, Keypad, and LCD drivers are self-contained and hardware-independent.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3960515"/>
            <a:ext cx="3357082" cy="21156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49205" y="4174927"/>
            <a:ext cx="28266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Register-Level Abstraction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4949205" y="4954488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details fully encapsulated — upper layers never touch registers directly.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9290" y="3960515"/>
            <a:ext cx="3357181" cy="211564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95294" y="4174927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Defensive Programming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495294" y="4659213"/>
            <a:ext cx="28267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validation enforced at every driver function boundary across all layers.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457" y="491232"/>
            <a:ext cx="4406492" cy="5875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367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Improvements</a:t>
            </a:r>
            <a:endParaRPr lang="en-US" sz="3250" dirty="0"/>
          </a:p>
        </p:txBody>
      </p:sp>
      <p:sp>
        <p:nvSpPr>
          <p:cNvPr id="5" name="Shape 2"/>
          <p:cNvSpPr/>
          <p:nvPr/>
        </p:nvSpPr>
        <p:spPr>
          <a:xfrm>
            <a:off x="661475" y="1497399"/>
            <a:ext cx="6296860" cy="1184672"/>
          </a:xfrm>
          <a:prstGeom prst="roundRect">
            <a:avLst>
              <a:gd name="adj" fmla="val 586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3119" y="166904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Attempt Limits &amp; Lockout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119" y="2014329"/>
            <a:ext cx="595357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 failed authentication attempts and lock the system after a configurable threshold.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3379689"/>
            <a:ext cx="6296860" cy="1184672"/>
          </a:xfrm>
          <a:prstGeom prst="roundRect">
            <a:avLst>
              <a:gd name="adj" fmla="val 586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119" y="355133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Buzzer / Alarm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3119" y="3896618"/>
            <a:ext cx="595357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Audible alert triggered on each 3 times failed authentication attempt for physical deterrence.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5209359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119" y="5381008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RTC Lockout Timer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119" y="5726289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clock enforced cooldown period to defend against brute-force attacks.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602</Words>
  <Application>Microsoft Office PowerPoint</Application>
  <PresentationFormat>Widescreen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Roboto Bold</vt:lpstr>
      <vt:lpstr>Consolas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Hazem ElSherbiny</cp:lastModifiedBy>
  <cp:revision>2</cp:revision>
  <dcterms:created xsi:type="dcterms:W3CDTF">2026-08-26T16:56:04Z</dcterms:created>
  <dcterms:modified xsi:type="dcterms:W3CDTF">2026-08-26T20:09:29Z</dcterms:modified>
</cp:coreProperties>
</file>